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roid Serif" charset="1" panose="02020600060500020200"/>
      <p:regular r:id="rId17"/>
    </p:embeddedFont>
    <p:embeddedFont>
      <p:font typeface="Droid Serif Bold" charset="1" panose="020208000605000202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5.jpeg" Type="http://schemas.openxmlformats.org/officeDocument/2006/relationships/image"/><Relationship Id="rId4" Target="../media/image29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jpeg" Type="http://schemas.openxmlformats.org/officeDocument/2006/relationships/image"/><Relationship Id="rId4" Target="../media/image34.jpe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302923" cy="1028700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AutoShape 3" id="3"/>
          <p:cNvSpPr/>
          <p:nvPr/>
        </p:nvSpPr>
        <p:spPr>
          <a:xfrm rot="0">
            <a:off x="12063151" y="0"/>
            <a:ext cx="6224849" cy="10287000"/>
          </a:xfrm>
          <a:prstGeom prst="rect">
            <a:avLst/>
          </a:prstGeom>
          <a:solidFill>
            <a:srgbClr val="700C0C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8450174" y="1028700"/>
            <a:ext cx="7705499" cy="8229600"/>
            <a:chOff x="0" y="0"/>
            <a:chExt cx="10273998" cy="109728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9949" r="0" b="9949"/>
            <a:stretch>
              <a:fillRect/>
            </a:stretch>
          </p:blipFill>
          <p:spPr>
            <a:xfrm flipH="false" flipV="false">
              <a:off x="0" y="0"/>
              <a:ext cx="10273998" cy="10972800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028700" y="7231526"/>
            <a:ext cx="6416644" cy="1131992"/>
            <a:chOff x="0" y="0"/>
            <a:chExt cx="2390889" cy="421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90889" cy="421788"/>
            </a:xfrm>
            <a:custGeom>
              <a:avLst/>
              <a:gdLst/>
              <a:ahLst/>
              <a:cxnLst/>
              <a:rect r="r" b="b" t="t" l="l"/>
              <a:pathLst>
                <a:path h="421788" w="2390889">
                  <a:moveTo>
                    <a:pt x="0" y="0"/>
                  </a:moveTo>
                  <a:lnTo>
                    <a:pt x="2390889" y="0"/>
                  </a:lnTo>
                  <a:lnTo>
                    <a:pt x="2390889" y="421788"/>
                  </a:lnTo>
                  <a:lnTo>
                    <a:pt x="0" y="421788"/>
                  </a:lnTo>
                  <a:close/>
                </a:path>
              </a:pathLst>
            </a:custGeom>
            <a:solidFill>
              <a:srgbClr val="E3921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49389" y="7231526"/>
            <a:ext cx="4075363" cy="1131992"/>
            <a:chOff x="0" y="0"/>
            <a:chExt cx="1518510" cy="4217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8510" cy="421788"/>
            </a:xfrm>
            <a:custGeom>
              <a:avLst/>
              <a:gdLst/>
              <a:ahLst/>
              <a:cxnLst/>
              <a:rect r="r" b="b" t="t" l="l"/>
              <a:pathLst>
                <a:path h="421788" w="1518510">
                  <a:moveTo>
                    <a:pt x="0" y="0"/>
                  </a:moveTo>
                  <a:lnTo>
                    <a:pt x="1518510" y="0"/>
                  </a:lnTo>
                  <a:lnTo>
                    <a:pt x="1518510" y="421788"/>
                  </a:lnTo>
                  <a:lnTo>
                    <a:pt x="0" y="421788"/>
                  </a:lnTo>
                  <a:close/>
                </a:path>
              </a:pathLst>
            </a:custGeom>
            <a:solidFill>
              <a:srgbClr val="700C0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52591" y="7231526"/>
            <a:ext cx="1172160" cy="1131992"/>
            <a:chOff x="0" y="0"/>
            <a:chExt cx="436756" cy="4217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6756" cy="421788"/>
            </a:xfrm>
            <a:custGeom>
              <a:avLst/>
              <a:gdLst/>
              <a:ahLst/>
              <a:cxnLst/>
              <a:rect r="r" b="b" t="t" l="l"/>
              <a:pathLst>
                <a:path h="421788" w="436756">
                  <a:moveTo>
                    <a:pt x="0" y="0"/>
                  </a:moveTo>
                  <a:lnTo>
                    <a:pt x="436756" y="0"/>
                  </a:lnTo>
                  <a:lnTo>
                    <a:pt x="436756" y="421788"/>
                  </a:lnTo>
                  <a:lnTo>
                    <a:pt x="0" y="421788"/>
                  </a:lnTo>
                  <a:close/>
                </a:path>
              </a:pathLst>
            </a:custGeom>
            <a:solidFill>
              <a:srgbClr val="700C0C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808714" y="7604220"/>
            <a:ext cx="459916" cy="327794"/>
          </a:xfrm>
          <a:custGeom>
            <a:avLst/>
            <a:gdLst/>
            <a:ahLst/>
            <a:cxnLst/>
            <a:rect r="r" b="b" t="t" l="l"/>
            <a:pathLst>
              <a:path h="327794" w="459916">
                <a:moveTo>
                  <a:pt x="0" y="0"/>
                </a:moveTo>
                <a:lnTo>
                  <a:pt x="459915" y="0"/>
                </a:lnTo>
                <a:lnTo>
                  <a:pt x="459915" y="327794"/>
                </a:lnTo>
                <a:lnTo>
                  <a:pt x="0" y="327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8843" y="3550367"/>
            <a:ext cx="1148463" cy="1349208"/>
          </a:xfrm>
          <a:custGeom>
            <a:avLst/>
            <a:gdLst/>
            <a:ahLst/>
            <a:cxnLst/>
            <a:rect r="r" b="b" t="t" l="l"/>
            <a:pathLst>
              <a:path h="1349208" w="1148463">
                <a:moveTo>
                  <a:pt x="0" y="0"/>
                </a:moveTo>
                <a:lnTo>
                  <a:pt x="1148463" y="0"/>
                </a:lnTo>
                <a:lnTo>
                  <a:pt x="1148463" y="1349208"/>
                </a:lnTo>
                <a:lnTo>
                  <a:pt x="0" y="134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40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982736" y="7581305"/>
            <a:ext cx="222459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Get Started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6247" y="4584781"/>
            <a:ext cx="532164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‘’Excellence By Choice’’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7306" y="3597992"/>
            <a:ext cx="5638038" cy="104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7199">
                <a:solidFill>
                  <a:srgbClr val="700C0C"/>
                </a:solidFill>
                <a:latin typeface="Droid Serif"/>
                <a:ea typeface="Droid Serif"/>
                <a:cs typeface="Droid Serif"/>
                <a:sym typeface="Droid Serif"/>
              </a:rPr>
              <a:t>JG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6766" y="3631956"/>
            <a:ext cx="7160143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D2AF30"/>
                </a:solidFill>
                <a:latin typeface="Droid Serif"/>
                <a:ea typeface="Droid Serif"/>
                <a:cs typeface="Droid Serif"/>
                <a:sym typeface="Droid Serif"/>
              </a:rPr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890198" y="2709175"/>
            <a:ext cx="12143150" cy="7577825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AutoShape 3" id="3"/>
          <p:cNvSpPr/>
          <p:nvPr/>
        </p:nvSpPr>
        <p:spPr>
          <a:xfrm rot="0">
            <a:off x="4958155" y="-328582"/>
            <a:ext cx="3161237" cy="1339215"/>
          </a:xfrm>
          <a:prstGeom prst="rect">
            <a:avLst/>
          </a:prstGeom>
          <a:solidFill>
            <a:srgbClr val="E39219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0" y="2709175"/>
            <a:ext cx="9470817" cy="6317955"/>
            <a:chOff x="0" y="0"/>
            <a:chExt cx="12627756" cy="8423939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30" r="0" b="30"/>
            <a:stretch>
              <a:fillRect/>
            </a:stretch>
          </p:blipFill>
          <p:spPr>
            <a:xfrm flipH="false" flipV="false">
              <a:off x="0" y="0"/>
              <a:ext cx="12627756" cy="8423939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231619" y="330621"/>
            <a:ext cx="1148463" cy="1349208"/>
          </a:xfrm>
          <a:custGeom>
            <a:avLst/>
            <a:gdLst/>
            <a:ahLst/>
            <a:cxnLst/>
            <a:rect r="r" b="b" t="t" l="l"/>
            <a:pathLst>
              <a:path h="1349208" w="1148463">
                <a:moveTo>
                  <a:pt x="0" y="0"/>
                </a:moveTo>
                <a:lnTo>
                  <a:pt x="1148463" y="0"/>
                </a:lnTo>
                <a:lnTo>
                  <a:pt x="1148463" y="1349208"/>
                </a:lnTo>
                <a:lnTo>
                  <a:pt x="0" y="1349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40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836951" y="1117092"/>
            <a:ext cx="4785653" cy="5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36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30021" y="1641729"/>
            <a:ext cx="4785653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2456" y="3506194"/>
            <a:ext cx="6500490" cy="523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408" indent="-323704" lvl="1">
              <a:lnSpc>
                <a:spcPts val="4198"/>
              </a:lnSpc>
              <a:buFont typeface="Arial"/>
              <a:buChar char="•"/>
            </a:pPr>
            <a:r>
              <a:rPr lang="en-US" sz="2998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JG University is focused on enhancing campus connectivity and student experience</a:t>
            </a:r>
          </a:p>
          <a:p>
            <a:pPr algn="l" marL="647408" indent="-323704" lvl="1">
              <a:lnSpc>
                <a:spcPts val="4198"/>
              </a:lnSpc>
              <a:buFont typeface="Arial"/>
              <a:buChar char="•"/>
            </a:pPr>
            <a:r>
              <a:rPr lang="en-US" sz="2998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 centralized system to manage communication, events, and resources</a:t>
            </a:r>
          </a:p>
          <a:p>
            <a:pPr algn="l" marL="647408" indent="-323704" lvl="1">
              <a:lnSpc>
                <a:spcPts val="4198"/>
              </a:lnSpc>
              <a:buFont typeface="Arial"/>
              <a:buChar char="•"/>
            </a:pPr>
            <a:r>
              <a:rPr lang="en-US" sz="2998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Helps students and faculty stay connected and informed</a:t>
            </a:r>
          </a:p>
          <a:p>
            <a:pPr algn="l" marL="647408" indent="-323704" lvl="1">
              <a:lnSpc>
                <a:spcPts val="4198"/>
              </a:lnSpc>
              <a:buFont typeface="Arial"/>
              <a:buChar char="•"/>
            </a:pPr>
            <a:r>
              <a:rPr lang="en-US" sz="2998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Accessible through modern digital solutions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136604" y="-125056"/>
            <a:ext cx="3194462" cy="10537111"/>
          </a:xfrm>
          <a:prstGeom prst="rect">
            <a:avLst/>
          </a:prstGeom>
          <a:solidFill>
            <a:srgbClr val="E39219"/>
          </a:solidFill>
        </p:spPr>
      </p:sp>
      <p:sp>
        <p:nvSpPr>
          <p:cNvPr name="AutoShape 3" id="3"/>
          <p:cNvSpPr/>
          <p:nvPr/>
        </p:nvSpPr>
        <p:spPr>
          <a:xfrm rot="0">
            <a:off x="0" y="1790760"/>
            <a:ext cx="18288000" cy="8824339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623795" y="2015159"/>
            <a:ext cx="10512809" cy="812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Academic information is scattered across platforms like WhatsApp, email, and notice boards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Students miss important announcements, deadlines, and exam updates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No centralized system for accessing all academic information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Difficulty in accessing study materials like notes, PPTs, and resources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Confusion regarding assignments and submission deadlines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Communication gap between students and faculty</a:t>
            </a:r>
          </a:p>
          <a:p>
            <a:pPr algn="l" marL="662105" indent="-331052" lvl="1">
              <a:lnSpc>
                <a:spcPts val="4293"/>
              </a:lnSpc>
              <a:buFont typeface="Arial"/>
              <a:buChar char="•"/>
            </a:pPr>
            <a:r>
              <a:rPr lang="en-US" sz="3066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Timetable changes and schedules are not clearly communicated</a:t>
            </a:r>
          </a:p>
          <a:p>
            <a:pPr algn="l" marL="662812" indent="-331406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F6F6F6"/>
                </a:solidFill>
                <a:latin typeface="Droid Serif"/>
                <a:ea typeface="Droid Serif"/>
                <a:cs typeface="Droid Serif"/>
                <a:sym typeface="Droid Serif"/>
              </a:rPr>
              <a:t>Academic events are poorly organized and not properly informed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1457" y="330518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4"/>
                </a:lnTo>
                <a:lnTo>
                  <a:pt x="0" y="133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65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806383" y="2072309"/>
            <a:ext cx="2816367" cy="5572667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752" t="0" r="-3752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4894381" y="3935994"/>
            <a:ext cx="2881673" cy="5701886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665" t="0" r="-566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68655" y="672656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49087" y="1850080"/>
            <a:ext cx="21522134" cy="8863542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3452028" y="5449098"/>
            <a:ext cx="3691764" cy="3980339"/>
          </a:xfrm>
          <a:custGeom>
            <a:avLst/>
            <a:gdLst/>
            <a:ahLst/>
            <a:cxnLst/>
            <a:rect r="r" b="b" t="t" l="l"/>
            <a:pathLst>
              <a:path h="3980339" w="3691764">
                <a:moveTo>
                  <a:pt x="0" y="0"/>
                </a:moveTo>
                <a:lnTo>
                  <a:pt x="3691765" y="0"/>
                </a:lnTo>
                <a:lnTo>
                  <a:pt x="3691765" y="3980339"/>
                </a:lnTo>
                <a:lnTo>
                  <a:pt x="0" y="3980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87569" y="2714457"/>
            <a:ext cx="10795955" cy="541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Provides academic announcements like exam notices, deadlines, and timetable updates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Enables easy sharing of study materials (notes, PDFs, PPTs)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Helps manage assignments with clear instructions and deadlines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Offers access to class and exam timetables in one place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Improves communication between students and faculty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Shares information about academic events like workshops and seminars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Allows students to check results and performance updates</a:t>
            </a:r>
          </a:p>
          <a:p>
            <a:pPr algn="l" marL="607706" indent="-303853" lvl="1">
              <a:lnSpc>
                <a:spcPts val="3940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Creates a centralized system for all academic information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1457" y="330518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4"/>
                </a:lnTo>
                <a:lnTo>
                  <a:pt x="0" y="133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16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33006" y="2521780"/>
            <a:ext cx="1610786" cy="1610786"/>
          </a:xfrm>
          <a:custGeom>
            <a:avLst/>
            <a:gdLst/>
            <a:ahLst/>
            <a:cxnLst/>
            <a:rect r="r" b="b" t="t" l="l"/>
            <a:pathLst>
              <a:path h="1610786" w="1610786">
                <a:moveTo>
                  <a:pt x="0" y="0"/>
                </a:moveTo>
                <a:lnTo>
                  <a:pt x="1610787" y="0"/>
                </a:lnTo>
                <a:lnTo>
                  <a:pt x="1610787" y="1610786"/>
                </a:lnTo>
                <a:lnTo>
                  <a:pt x="0" y="161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52769" y="672656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Academic Solutions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259300" y="-233864"/>
            <a:ext cx="1572287" cy="12219171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454468" y="359092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6"/>
                </a:lnTo>
                <a:lnTo>
                  <a:pt x="0" y="133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98308"/>
            <a:ext cx="16858602" cy="8903972"/>
          </a:xfrm>
          <a:custGeom>
            <a:avLst/>
            <a:gdLst/>
            <a:ahLst/>
            <a:cxnLst/>
            <a:rect r="r" b="b" t="t" l="l"/>
            <a:pathLst>
              <a:path h="8903972" w="16858602">
                <a:moveTo>
                  <a:pt x="0" y="0"/>
                </a:moveTo>
                <a:lnTo>
                  <a:pt x="16858602" y="0"/>
                </a:lnTo>
                <a:lnTo>
                  <a:pt x="16858602" y="8903971"/>
                </a:lnTo>
                <a:lnTo>
                  <a:pt x="0" y="8903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9" r="0" b="-433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5663" y="672656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User Persona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47327" y="9244386"/>
            <a:ext cx="18849561" cy="1028700"/>
          </a:xfrm>
          <a:prstGeom prst="rect">
            <a:avLst/>
          </a:prstGeom>
          <a:solidFill>
            <a:srgbClr val="E39219"/>
          </a:solidFill>
        </p:spPr>
      </p:sp>
      <p:sp>
        <p:nvSpPr>
          <p:cNvPr name="AutoShape 3" id="3"/>
          <p:cNvSpPr/>
          <p:nvPr/>
        </p:nvSpPr>
        <p:spPr>
          <a:xfrm rot="0">
            <a:off x="13513644" y="0"/>
            <a:ext cx="5264834" cy="9258300"/>
          </a:xfrm>
          <a:prstGeom prst="rect">
            <a:avLst/>
          </a:prstGeom>
          <a:solidFill>
            <a:srgbClr val="700C0C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6121305" y="8159303"/>
            <a:ext cx="1137995" cy="1098997"/>
            <a:chOff x="0" y="0"/>
            <a:chExt cx="436756" cy="421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6756" cy="421788"/>
            </a:xfrm>
            <a:custGeom>
              <a:avLst/>
              <a:gdLst/>
              <a:ahLst/>
              <a:cxnLst/>
              <a:rect r="r" b="b" t="t" l="l"/>
              <a:pathLst>
                <a:path h="421788" w="436756">
                  <a:moveTo>
                    <a:pt x="0" y="0"/>
                  </a:moveTo>
                  <a:lnTo>
                    <a:pt x="436756" y="0"/>
                  </a:lnTo>
                  <a:lnTo>
                    <a:pt x="436756" y="421788"/>
                  </a:lnTo>
                  <a:lnTo>
                    <a:pt x="0" y="421788"/>
                  </a:lnTo>
                  <a:close/>
                </a:path>
              </a:pathLst>
            </a:custGeom>
            <a:solidFill>
              <a:srgbClr val="700C0C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1457" y="330518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4"/>
                </a:lnTo>
                <a:lnTo>
                  <a:pt x="0" y="133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6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53883" y="1343537"/>
            <a:ext cx="385867" cy="517074"/>
          </a:xfrm>
          <a:custGeom>
            <a:avLst/>
            <a:gdLst/>
            <a:ahLst/>
            <a:cxnLst/>
            <a:rect r="r" b="b" t="t" l="l"/>
            <a:pathLst>
              <a:path h="517074" w="385867">
                <a:moveTo>
                  <a:pt x="0" y="0"/>
                </a:moveTo>
                <a:lnTo>
                  <a:pt x="385867" y="0"/>
                </a:lnTo>
                <a:lnTo>
                  <a:pt x="385867" y="517074"/>
                </a:lnTo>
                <a:lnTo>
                  <a:pt x="0" y="517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0248" y="4803091"/>
            <a:ext cx="712118" cy="564354"/>
          </a:xfrm>
          <a:custGeom>
            <a:avLst/>
            <a:gdLst/>
            <a:ahLst/>
            <a:cxnLst/>
            <a:rect r="r" b="b" t="t" l="l"/>
            <a:pathLst>
              <a:path h="564354" w="712118">
                <a:moveTo>
                  <a:pt x="0" y="0"/>
                </a:moveTo>
                <a:lnTo>
                  <a:pt x="712118" y="0"/>
                </a:lnTo>
                <a:lnTo>
                  <a:pt x="712118" y="564353"/>
                </a:lnTo>
                <a:lnTo>
                  <a:pt x="0" y="56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84965" y="1341637"/>
            <a:ext cx="615580" cy="658374"/>
          </a:xfrm>
          <a:custGeom>
            <a:avLst/>
            <a:gdLst/>
            <a:ahLst/>
            <a:cxnLst/>
            <a:rect r="r" b="b" t="t" l="l"/>
            <a:pathLst>
              <a:path h="658374" w="615580">
                <a:moveTo>
                  <a:pt x="0" y="0"/>
                </a:moveTo>
                <a:lnTo>
                  <a:pt x="615580" y="0"/>
                </a:lnTo>
                <a:lnTo>
                  <a:pt x="615580" y="658374"/>
                </a:lnTo>
                <a:lnTo>
                  <a:pt x="0" y="658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35924" y="4821683"/>
            <a:ext cx="764621" cy="598316"/>
          </a:xfrm>
          <a:custGeom>
            <a:avLst/>
            <a:gdLst/>
            <a:ahLst/>
            <a:cxnLst/>
            <a:rect r="r" b="b" t="t" l="l"/>
            <a:pathLst>
              <a:path h="598316" w="764621">
                <a:moveTo>
                  <a:pt x="0" y="0"/>
                </a:moveTo>
                <a:lnTo>
                  <a:pt x="764621" y="0"/>
                </a:lnTo>
                <a:lnTo>
                  <a:pt x="764621" y="598315"/>
                </a:lnTo>
                <a:lnTo>
                  <a:pt x="0" y="5983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88093" y="4803091"/>
            <a:ext cx="3466423" cy="2955914"/>
          </a:xfrm>
          <a:custGeom>
            <a:avLst/>
            <a:gdLst/>
            <a:ahLst/>
            <a:cxnLst/>
            <a:rect r="r" b="b" t="t" l="l"/>
            <a:pathLst>
              <a:path h="2955914" w="3466423">
                <a:moveTo>
                  <a:pt x="0" y="0"/>
                </a:moveTo>
                <a:lnTo>
                  <a:pt x="3466424" y="0"/>
                </a:lnTo>
                <a:lnTo>
                  <a:pt x="3466424" y="2955914"/>
                </a:lnTo>
                <a:lnTo>
                  <a:pt x="0" y="29559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12929" y="791635"/>
            <a:ext cx="2416753" cy="2416753"/>
          </a:xfrm>
          <a:custGeom>
            <a:avLst/>
            <a:gdLst/>
            <a:ahLst/>
            <a:cxnLst/>
            <a:rect r="r" b="b" t="t" l="l"/>
            <a:pathLst>
              <a:path h="2416753" w="2416753">
                <a:moveTo>
                  <a:pt x="0" y="0"/>
                </a:moveTo>
                <a:lnTo>
                  <a:pt x="2416752" y="0"/>
                </a:lnTo>
                <a:lnTo>
                  <a:pt x="2416752" y="2416753"/>
                </a:lnTo>
                <a:lnTo>
                  <a:pt x="0" y="24167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77850" y="1803461"/>
            <a:ext cx="438464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Students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Faculty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Admin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3029" y="1324487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Target Users: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40351" y="4784041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Design Descision: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83458" y="354711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User Research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88422" y="5344251"/>
            <a:ext cx="4384643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Missing important announcements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Scattered academic information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Difficulty accessing study materials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Communication gap between students and faculty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40351" y="1264932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User Needs: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00545" y="1673228"/>
            <a:ext cx="4384643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Centralized campus platform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Study materials and timetable updates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Event Information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Communication system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Assignment and attendance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Simple and user-friendly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90466" y="4908369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User Problems: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40351" y="5310294"/>
            <a:ext cx="4384643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Dashboard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Academic sections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Simple navigation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Event Section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TimeTable and attendance section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Fees history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03571" y="0"/>
            <a:ext cx="4982931" cy="10287000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028700" cy="10589559"/>
          </a:xfrm>
          <a:prstGeom prst="rect">
            <a:avLst/>
          </a:prstGeom>
          <a:solidFill>
            <a:srgbClr val="700C0C"/>
          </a:solid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116338" y="538232"/>
            <a:ext cx="2327454" cy="4605268"/>
            <a:chOff x="0" y="0"/>
            <a:chExt cx="2620010" cy="5184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34777" t="-31435" r="-51526" b="-23566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5116338" y="5294780"/>
            <a:ext cx="2357398" cy="4664517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-24000">
              <a:off x="169882" y="149872"/>
              <a:ext cx="2281545" cy="4889476"/>
            </a:xfrm>
            <a:custGeom>
              <a:avLst/>
              <a:gdLst/>
              <a:ahLst/>
              <a:cxnLst/>
              <a:rect r="r" b="b" t="t" l="l"/>
              <a:pathLst>
                <a:path h="4889476" w="2281545">
                  <a:moveTo>
                    <a:pt x="2073429" y="12790"/>
                  </a:moveTo>
                  <a:lnTo>
                    <a:pt x="1801656" y="10893"/>
                  </a:lnTo>
                  <a:lnTo>
                    <a:pt x="1801257" y="68041"/>
                  </a:lnTo>
                  <a:cubicBezTo>
                    <a:pt x="1800804" y="132810"/>
                    <a:pt x="1747093" y="185776"/>
                    <a:pt x="1682325" y="185324"/>
                  </a:cubicBezTo>
                  <a:lnTo>
                    <a:pt x="633330" y="178000"/>
                  </a:lnTo>
                  <a:cubicBezTo>
                    <a:pt x="568562" y="177548"/>
                    <a:pt x="515596" y="123837"/>
                    <a:pt x="516048" y="59069"/>
                  </a:cubicBezTo>
                  <a:lnTo>
                    <a:pt x="516447" y="1920"/>
                  </a:lnTo>
                  <a:lnTo>
                    <a:pt x="242134" y="5"/>
                  </a:lnTo>
                  <a:cubicBezTo>
                    <a:pt x="126566" y="-802"/>
                    <a:pt x="31933" y="92520"/>
                    <a:pt x="31126" y="208087"/>
                  </a:cubicBezTo>
                  <a:lnTo>
                    <a:pt x="5" y="4665678"/>
                  </a:lnTo>
                  <a:cubicBezTo>
                    <a:pt x="-801" y="4781245"/>
                    <a:pt x="92520" y="4875879"/>
                    <a:pt x="208087" y="4876686"/>
                  </a:cubicBezTo>
                  <a:lnTo>
                    <a:pt x="2039383" y="4889471"/>
                  </a:lnTo>
                  <a:cubicBezTo>
                    <a:pt x="2154950" y="4890278"/>
                    <a:pt x="2249584" y="4796956"/>
                    <a:pt x="2250390" y="4681389"/>
                  </a:cubicBezTo>
                  <a:lnTo>
                    <a:pt x="2281511" y="223798"/>
                  </a:lnTo>
                  <a:cubicBezTo>
                    <a:pt x="2283588" y="108239"/>
                    <a:pt x="2190266" y="13605"/>
                    <a:pt x="2073429" y="12790"/>
                  </a:cubicBezTo>
                  <a:close/>
                </a:path>
              </a:pathLst>
            </a:custGeom>
            <a:blipFill>
              <a:blip r:embed="rId3"/>
              <a:stretch>
                <a:fillRect l="-2981" t="0" r="-18808" b="-141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0303113" y="396350"/>
            <a:ext cx="2646323" cy="2646323"/>
          </a:xfrm>
          <a:custGeom>
            <a:avLst/>
            <a:gdLst/>
            <a:ahLst/>
            <a:cxnLst/>
            <a:rect r="r" b="b" t="t" l="l"/>
            <a:pathLst>
              <a:path h="2646323" w="2646323">
                <a:moveTo>
                  <a:pt x="0" y="0"/>
                </a:moveTo>
                <a:lnTo>
                  <a:pt x="2646323" y="0"/>
                </a:lnTo>
                <a:lnTo>
                  <a:pt x="2646323" y="2646323"/>
                </a:lnTo>
                <a:lnTo>
                  <a:pt x="0" y="2646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97872" y="1446816"/>
            <a:ext cx="2765572" cy="746705"/>
          </a:xfrm>
          <a:custGeom>
            <a:avLst/>
            <a:gdLst/>
            <a:ahLst/>
            <a:cxnLst/>
            <a:rect r="r" b="b" t="t" l="l"/>
            <a:pathLst>
              <a:path h="746705" w="2765572">
                <a:moveTo>
                  <a:pt x="0" y="0"/>
                </a:moveTo>
                <a:lnTo>
                  <a:pt x="2765572" y="0"/>
                </a:lnTo>
                <a:lnTo>
                  <a:pt x="2765572" y="746705"/>
                </a:lnTo>
                <a:lnTo>
                  <a:pt x="0" y="746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676320" y="3268937"/>
            <a:ext cx="4247116" cy="669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St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udent profile details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Semester timetable (day-wise)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Attendance tracking (subject-wise %)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Subject &amp; lecture information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Simple and easy UI 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Strength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: Simple + focused + easy to use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Weakness: 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 Limited features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(no AI, no advanced learning tools)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N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ot interactive / less engaging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76249" y="500132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Competitor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97872" y="2409066"/>
            <a:ext cx="1115689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JG University App                    VS         Parul University App (PU Student)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57629" y="2985523"/>
            <a:ext cx="4989762" cy="55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Course materials &amp; assignments access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Timetable + attendance tracking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AI-powered learning &amp; interview prep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Communication with faculty &amp; peers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Full ERP system (admissions, exams, performance) 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Strength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: Advanced + AI-based + All-in-one platform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78306" y="2628395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F6F6F6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Parul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98350" y="7221146"/>
            <a:ext cx="3495429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00" b="true">
                <a:solidFill>
                  <a:srgbClr val="F6F6F6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JG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323315" y="-761864"/>
            <a:ext cx="2227645" cy="12388578"/>
          </a:xfrm>
          <a:prstGeom prst="rect">
            <a:avLst/>
          </a:prstGeom>
          <a:solidFill>
            <a:srgbClr val="700C0C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151435" y="1539313"/>
            <a:ext cx="3361571" cy="6651446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5318" t="-1233" r="-16982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154707" y="1539313"/>
            <a:ext cx="3361571" cy="6651446"/>
            <a:chOff x="0" y="0"/>
            <a:chExt cx="2620010" cy="518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-24000">
              <a:off x="169882" y="149872"/>
              <a:ext cx="2281545" cy="4889476"/>
            </a:xfrm>
            <a:custGeom>
              <a:avLst/>
              <a:gdLst/>
              <a:ahLst/>
              <a:cxnLst/>
              <a:rect r="r" b="b" t="t" l="l"/>
              <a:pathLst>
                <a:path h="4889476" w="2281545">
                  <a:moveTo>
                    <a:pt x="2073429" y="12790"/>
                  </a:moveTo>
                  <a:lnTo>
                    <a:pt x="1801656" y="10893"/>
                  </a:lnTo>
                  <a:lnTo>
                    <a:pt x="1801257" y="68041"/>
                  </a:lnTo>
                  <a:cubicBezTo>
                    <a:pt x="1800804" y="132810"/>
                    <a:pt x="1747093" y="185776"/>
                    <a:pt x="1682325" y="185324"/>
                  </a:cubicBezTo>
                  <a:lnTo>
                    <a:pt x="633330" y="178000"/>
                  </a:lnTo>
                  <a:cubicBezTo>
                    <a:pt x="568562" y="177548"/>
                    <a:pt x="515596" y="123837"/>
                    <a:pt x="516048" y="59069"/>
                  </a:cubicBezTo>
                  <a:lnTo>
                    <a:pt x="516447" y="1920"/>
                  </a:lnTo>
                  <a:lnTo>
                    <a:pt x="242134" y="5"/>
                  </a:lnTo>
                  <a:cubicBezTo>
                    <a:pt x="126566" y="-802"/>
                    <a:pt x="31933" y="92520"/>
                    <a:pt x="31126" y="208087"/>
                  </a:cubicBezTo>
                  <a:lnTo>
                    <a:pt x="5" y="4665678"/>
                  </a:lnTo>
                  <a:cubicBezTo>
                    <a:pt x="-801" y="4781245"/>
                    <a:pt x="92520" y="4875879"/>
                    <a:pt x="208087" y="4876686"/>
                  </a:cubicBezTo>
                  <a:lnTo>
                    <a:pt x="2039383" y="4889471"/>
                  </a:lnTo>
                  <a:cubicBezTo>
                    <a:pt x="2154950" y="4890278"/>
                    <a:pt x="2249584" y="4796956"/>
                    <a:pt x="2250390" y="4681389"/>
                  </a:cubicBezTo>
                  <a:lnTo>
                    <a:pt x="2281511" y="223798"/>
                  </a:lnTo>
                  <a:cubicBezTo>
                    <a:pt x="2283588" y="108239"/>
                    <a:pt x="2190266" y="13605"/>
                    <a:pt x="2073429" y="12790"/>
                  </a:cubicBezTo>
                  <a:close/>
                </a:path>
              </a:pathLst>
            </a:custGeom>
            <a:blipFill>
              <a:blip r:embed="rId3"/>
              <a:stretch>
                <a:fillRect l="-2981" t="0" r="-18808" b="-141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3897729" y="1539313"/>
            <a:ext cx="3361571" cy="6651446"/>
            <a:chOff x="0" y="0"/>
            <a:chExt cx="2620010" cy="5184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3273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8154707" y="8311873"/>
            <a:ext cx="575565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Profile Page 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- User information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and settings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51435" y="8311873"/>
            <a:ext cx="6754916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Login Page</a:t>
            </a:r>
            <a:r>
              <a:rPr lang="en-US" sz="20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 - Username,Password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Login Button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97729" y="8311873"/>
            <a:ext cx="575565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Dashboard </a:t>
            </a: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- Announcements,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Events and updates 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04330" y="359092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6"/>
                </a:lnTo>
                <a:lnTo>
                  <a:pt x="0" y="1339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165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737064" y="508665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Wireframes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513644" y="0"/>
            <a:ext cx="4982931" cy="10287000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780440" y="1612583"/>
            <a:ext cx="11156897" cy="78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We created an interactive prototype of the JG Campus Connect website.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prototype demonstrates the overall working and navigation of the system.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Users can navigate through different pages like Login, Dashboard, Academic, Events, Chat, and Profile.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dashboard shows announcements, events, and important updates in one place.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academic section contains study materials, assignments, and timetable information.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events section shows upcoming campus events and activities.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chat section allows communication between students and faculty.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profile section allows users to manage their personal information.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 prototype shows the user flow and interface before actual development.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It helps in testing the design, navigation, and user experience of the system.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1457" y="330518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4" y="0"/>
                </a:lnTo>
                <a:lnTo>
                  <a:pt x="1148464" y="1339214"/>
                </a:lnTo>
                <a:lnTo>
                  <a:pt x="0" y="133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6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67519" y="1346644"/>
            <a:ext cx="2475182" cy="2410209"/>
          </a:xfrm>
          <a:custGeom>
            <a:avLst/>
            <a:gdLst/>
            <a:ahLst/>
            <a:cxnLst/>
            <a:rect r="r" b="b" t="t" l="l"/>
            <a:pathLst>
              <a:path h="2410209" w="2475182">
                <a:moveTo>
                  <a:pt x="0" y="0"/>
                </a:moveTo>
                <a:lnTo>
                  <a:pt x="2475182" y="0"/>
                </a:lnTo>
                <a:lnTo>
                  <a:pt x="2475182" y="2410209"/>
                </a:lnTo>
                <a:lnTo>
                  <a:pt x="0" y="241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3766" y="5344551"/>
            <a:ext cx="3302687" cy="3302687"/>
          </a:xfrm>
          <a:custGeom>
            <a:avLst/>
            <a:gdLst/>
            <a:ahLst/>
            <a:cxnLst/>
            <a:rect r="r" b="b" t="t" l="l"/>
            <a:pathLst>
              <a:path h="3302687" w="3302687">
                <a:moveTo>
                  <a:pt x="0" y="0"/>
                </a:moveTo>
                <a:lnTo>
                  <a:pt x="3302687" y="0"/>
                </a:lnTo>
                <a:lnTo>
                  <a:pt x="3302687" y="3302687"/>
                </a:lnTo>
                <a:lnTo>
                  <a:pt x="0" y="3302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63572" y="644080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Prototype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548076"/>
            <a:ext cx="18288000" cy="738924"/>
          </a:xfrm>
          <a:prstGeom prst="rect">
            <a:avLst/>
          </a:prstGeom>
          <a:solidFill>
            <a:srgbClr val="E39219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028700" cy="10287000"/>
          </a:xfrm>
          <a:prstGeom prst="rect">
            <a:avLst/>
          </a:prstGeom>
          <a:solidFill>
            <a:srgbClr val="700C0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2673885" y="1614500"/>
            <a:ext cx="10649255" cy="760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JG Campus Connect is a centralized campus platform for students, faculty, and administration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It solves the problem of scattered academic and campus information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The system provides academic information, announcements, events, and communication in one place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The UI/UX design focuses on simple, clean, and user-friendly interface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Wireframes and prototype were created to design and test the system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The platform improves communication, organization, and information management in the campus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It saves time and improves efficiency for students and faculty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1D3B"/>
                </a:solidFill>
                <a:latin typeface="Droid Serif"/>
                <a:ea typeface="Droid Serif"/>
                <a:cs typeface="Droid Serif"/>
                <a:sym typeface="Droid Serif"/>
              </a:rPr>
              <a:t>Overall, JG Campus Connect improves campus connectivity and user experience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77061" y="359092"/>
            <a:ext cx="1148463" cy="1339215"/>
          </a:xfrm>
          <a:custGeom>
            <a:avLst/>
            <a:gdLst/>
            <a:ahLst/>
            <a:cxnLst/>
            <a:rect r="r" b="b" t="t" l="l"/>
            <a:pathLst>
              <a:path h="1339215" w="1148463">
                <a:moveTo>
                  <a:pt x="0" y="0"/>
                </a:moveTo>
                <a:lnTo>
                  <a:pt x="1148463" y="0"/>
                </a:lnTo>
                <a:lnTo>
                  <a:pt x="1148463" y="1339216"/>
                </a:lnTo>
                <a:lnTo>
                  <a:pt x="0" y="133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65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323140" y="359092"/>
            <a:ext cx="2417989" cy="4784408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665" t="0" r="-566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741130" y="5143500"/>
            <a:ext cx="2445903" cy="4839640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7284" t="0" r="-1285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2927545">
            <a:off x="15794471" y="3290449"/>
            <a:ext cx="1885437" cy="996925"/>
          </a:xfrm>
          <a:custGeom>
            <a:avLst/>
            <a:gdLst/>
            <a:ahLst/>
            <a:cxnLst/>
            <a:rect r="r" b="b" t="t" l="l"/>
            <a:pathLst>
              <a:path h="996925" w="1885437">
                <a:moveTo>
                  <a:pt x="0" y="0"/>
                </a:moveTo>
                <a:lnTo>
                  <a:pt x="1885437" y="0"/>
                </a:lnTo>
                <a:lnTo>
                  <a:pt x="1885437" y="996925"/>
                </a:lnTo>
                <a:lnTo>
                  <a:pt x="0" y="99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952157" y="672656"/>
            <a:ext cx="8779214" cy="67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200" b="true">
                <a:solidFill>
                  <a:srgbClr val="001D3B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38917" y="7185979"/>
            <a:ext cx="386055" cy="275152"/>
          </a:xfrm>
          <a:custGeom>
            <a:avLst/>
            <a:gdLst/>
            <a:ahLst/>
            <a:cxnLst/>
            <a:rect r="r" b="b" t="t" l="l"/>
            <a:pathLst>
              <a:path h="275152" w="386055">
                <a:moveTo>
                  <a:pt x="0" y="0"/>
                </a:moveTo>
                <a:lnTo>
                  <a:pt x="386055" y="0"/>
                </a:lnTo>
                <a:lnTo>
                  <a:pt x="386055" y="275152"/>
                </a:lnTo>
                <a:lnTo>
                  <a:pt x="0" y="275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000">
            <a:off x="-35685" y="-63711"/>
            <a:ext cx="18359371" cy="10414423"/>
          </a:xfrm>
          <a:custGeom>
            <a:avLst/>
            <a:gdLst/>
            <a:ahLst/>
            <a:cxnLst/>
            <a:rect r="r" b="b" t="t" l="l"/>
            <a:pathLst>
              <a:path h="10414423" w="18359371">
                <a:moveTo>
                  <a:pt x="71816" y="0"/>
                </a:moveTo>
                <a:lnTo>
                  <a:pt x="18359370" y="127673"/>
                </a:lnTo>
                <a:lnTo>
                  <a:pt x="18287554" y="10414422"/>
                </a:lnTo>
                <a:lnTo>
                  <a:pt x="0" y="10286749"/>
                </a:lnTo>
                <a:lnTo>
                  <a:pt x="71816" y="0"/>
                </a:lnTo>
                <a:close/>
              </a:path>
            </a:pathLst>
          </a:custGeom>
          <a:blipFill>
            <a:blip r:embed="rId4"/>
            <a:stretch>
              <a:fillRect l="-5300" t="-24153" r="-43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34056" y="8086725"/>
            <a:ext cx="6219888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9"/>
              </a:lnSpc>
            </a:pPr>
            <a:r>
              <a:rPr lang="en-US" sz="7499" b="true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DAHE3LgJkPU</dc:identifier>
  <dcterms:modified xsi:type="dcterms:W3CDTF">2011-08-01T06:04:30Z</dcterms:modified>
  <cp:revision>1</cp:revision>
  <dc:title>University Education Presentation in Navy Blue Hand Drawn Style</dc:title>
</cp:coreProperties>
</file>